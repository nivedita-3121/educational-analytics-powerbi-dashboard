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E637DE-4B07-486C-88DF-4D267F753F4D}" v="54" dt="2026-03-12T08:29:57.2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76" d="100"/>
          <a:sy n="76" d="100"/>
        </p:scale>
        <p:origin x="58" y="149"/>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8/10/relationships/authors" Targe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3/12/2026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12/03/2026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424543" y="1406769"/>
            <a:ext cx="4839608" cy="2022231"/>
          </a:xfrm>
          <a:prstGeom prst="rect">
            <a:avLst/>
          </a:prstGeom>
        </p:spPr>
        <p:txBody>
          <a:bodyPr vert="horz" lIns="91440" tIns="45720" rIns="91440" bIns="45720" rtlCol="0" anchor="b">
            <a:normAutofit fontScale="4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5100" dirty="0">
                <a:latin typeface="Aptos"/>
              </a:rPr>
              <a:t>MICROSOFT ELEVATE CAPSTONE PROJECT</a:t>
            </a:r>
          </a:p>
          <a:p>
            <a:pPr algn="l"/>
            <a:br>
              <a:rPr lang="en-US" sz="5100" b="1" dirty="0"/>
            </a:br>
            <a:r>
              <a:rPr lang="en-US" sz="5100" b="1" cap="all" dirty="0">
                <a:latin typeface="Aptos"/>
              </a:rPr>
              <a:t>Education analytics dashboard: subject availability in Indian schools</a:t>
            </a:r>
            <a:endParaRPr lang="en-US" sz="5100" dirty="0">
              <a:latin typeface="Aptos"/>
            </a:endParaRPr>
          </a:p>
          <a:p>
            <a:pPr algn="l"/>
            <a:endParaRPr lang="en-US" sz="5100" b="1" kern="1200" dirty="0"/>
          </a:p>
        </p:txBody>
      </p:sp>
      <p:sp>
        <p:nvSpPr>
          <p:cNvPr id="5" name="Subtitle 2"/>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NIVEDITA</a:t>
            </a:r>
          </a:p>
          <a:p>
            <a:pPr algn="l">
              <a:spcAft>
                <a:spcPts val="600"/>
              </a:spcAft>
            </a:pPr>
            <a:r>
              <a:rPr lang="en-US" sz="1600" b="1" cap="all" dirty="0"/>
              <a:t>INDIAN INSTITUTE OF TECHNOLOGY PATNA</a:t>
            </a:r>
          </a:p>
          <a:p>
            <a:pPr algn="l">
              <a:spcAft>
                <a:spcPts val="600"/>
              </a:spcAft>
            </a:pPr>
            <a:r>
              <a:rPr lang="en-US" sz="1600" b="1" cap="all" dirty="0"/>
              <a:t>COMPUTER SCIENCE and data analytics</a:t>
            </a:r>
          </a:p>
          <a:p>
            <a:pPr algn="l">
              <a:spcAft>
                <a:spcPts val="600"/>
              </a:spcAft>
            </a:pPr>
            <a:r>
              <a:rPr lang="en-US" sz="1600" b="1" cap="all" dirty="0"/>
              <a:t>nivedita3121@gmail.com</a:t>
            </a: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5"/>
          <a:stretch>
            <a:fillRect/>
          </a:stretch>
        </p:blipFill>
        <p:spPr>
          <a:xfrm>
            <a:off x="6409990" y="963029"/>
            <a:ext cx="4590784" cy="4936489"/>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4000" b="1" cap="all" dirty="0">
                <a:latin typeface="Arial" panose="020B0604020202020204"/>
                <a:cs typeface="Arial" panose="020B0604020202020204"/>
              </a:rPr>
              <a:t>OUTLINE:</a:t>
            </a:r>
            <a:endParaRPr lang="en-US" sz="40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 </a:t>
            </a:r>
            <a:r>
              <a:rPr lang="en-US" sz="2200" dirty="0">
                <a:latin typeface="Arial" panose="020B0604020202020204"/>
                <a:cs typeface="Arial" panose="020B0604020202020204"/>
              </a:rPr>
              <a:t> </a:t>
            </a:r>
          </a:p>
          <a:p>
            <a:pPr marL="305435" indent="-305435">
              <a:spcBef>
                <a:spcPct val="20000"/>
              </a:spcBef>
              <a:spcAft>
                <a:spcPts val="600"/>
              </a:spcAft>
            </a:pPr>
            <a:r>
              <a:rPr lang="en-US" sz="2200" b="1" dirty="0">
                <a:latin typeface="Arial" panose="020B0604020202020204"/>
                <a:cs typeface="Arial" panose="020B0604020202020204"/>
              </a:rPr>
              <a:t>TOOLS AND TECHNOLOGY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 (DASHBOARD OUTPUT)</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0773" y="763675"/>
            <a:ext cx="10645339" cy="1396721"/>
          </a:xfrm>
        </p:spPr>
        <p:txBody>
          <a:bodyPr lIns="91440" tIns="45720" rIns="91440" bIns="45720" anchor="t">
            <a:normAutofit/>
          </a:bodyPr>
          <a:lstStyle/>
          <a:p>
            <a:r>
              <a:rPr lang="en-US" sz="3600" b="1" cap="all" dirty="0">
                <a:latin typeface="Arial" panose="020B0604020202020204"/>
                <a:cs typeface="Arial" panose="020B0604020202020204"/>
              </a:rPr>
              <a:t>Problem Statement:</a:t>
            </a:r>
            <a:endParaRPr lang="en-US" sz="3600" dirty="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400" dirty="0"/>
              <a:t>Educational Infrastructure and Subject Availability vary significantly across different states in </a:t>
            </a:r>
            <a:r>
              <a:rPr lang="en-US" sz="2200" dirty="0"/>
              <a:t>India. Understanding the distribution of secondary schools, higher secondary schools, and science laboratory facilities is essential for improving education planning and resource allocation. However, without proper data visualization and analysis, it becomes difficult to identify trends and gaps in educational infrastructure. Therefore, a data analytics dashboard is required to analyze subject availability and educational resource across the Indian states</a:t>
            </a:r>
            <a:r>
              <a:rPr lang="en-US" sz="2200" dirty="0">
                <a:latin typeface="Aptos" panose="020B0004020202020204" pitchFamily="34"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3600" b="1" cap="all" dirty="0">
                <a:latin typeface="Arial" panose="020B0604020202020204"/>
                <a:cs typeface="Arial" panose="020B0604020202020204"/>
              </a:rPr>
              <a:t>Proposed Solution:</a:t>
            </a:r>
            <a:endParaRPr lang="en-US" sz="3600" dirty="0"/>
          </a:p>
        </p:txBody>
      </p:sp>
      <p:sp>
        <p:nvSpPr>
          <p:cNvPr id="3" name="Content Placeholder 2"/>
          <p:cNvSpPr>
            <a:spLocks noGrp="1"/>
          </p:cNvSpPr>
          <p:nvPr>
            <p:ph idx="1"/>
          </p:nvPr>
        </p:nvSpPr>
        <p:spPr>
          <a:xfrm>
            <a:off x="219075" y="1304306"/>
            <a:ext cx="10515600" cy="4251960"/>
          </a:xfrm>
        </p:spPr>
        <p:txBody>
          <a:bodyPr vert="horz" lIns="91440" tIns="45720" rIns="91440" bIns="45720" rtlCol="0" anchor="t">
            <a:noAutofit/>
          </a:bodyPr>
          <a:lstStyle/>
          <a:p>
            <a:r>
              <a:rPr lang="en-US" sz="2400" dirty="0"/>
              <a:t>Collect education dataset from </a:t>
            </a:r>
            <a:r>
              <a:rPr lang="en-US" sz="2400" b="1" dirty="0"/>
              <a:t>NDAP (National Data and Analytics Platform)</a:t>
            </a:r>
            <a:r>
              <a:rPr lang="en-US" sz="2400" dirty="0"/>
              <a:t>.</a:t>
            </a:r>
          </a:p>
          <a:p>
            <a:r>
              <a:rPr lang="en-US" sz="2400" dirty="0"/>
              <a:t>Clean and preprocess the dataset.</a:t>
            </a:r>
          </a:p>
          <a:p>
            <a:r>
              <a:rPr lang="en-US" sz="2400" dirty="0"/>
              <a:t>Load the dataset into Power BI.</a:t>
            </a:r>
          </a:p>
          <a:p>
            <a:r>
              <a:rPr lang="en-US" sz="2400" dirty="0"/>
              <a:t>Create an interactive dashboard with charts and filters.</a:t>
            </a:r>
          </a:p>
          <a:p>
            <a:r>
              <a:rPr lang="en-US" sz="2400" dirty="0"/>
              <a:t>Analyze school distribution, science laboratory availability, and subject availability.</a:t>
            </a:r>
          </a:p>
          <a:p>
            <a:r>
              <a:rPr lang="en-US" sz="2400" dirty="0"/>
              <a:t>Provide insights for better educational planning.</a:t>
            </a:r>
          </a:p>
          <a:p>
            <a:pPr marL="0" indent="0">
              <a:spcBef>
                <a:spcPct val="20000"/>
              </a:spcBef>
              <a:spcAft>
                <a:spcPts val="600"/>
              </a:spcAft>
              <a:buNone/>
            </a:pPr>
            <a:endParaRPr lang="en-GB"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3600" b="1" cap="all" dirty="0">
                <a:latin typeface="Arial" panose="020B0604020202020204"/>
                <a:cs typeface="Arial" panose="020B0604020202020204"/>
              </a:rPr>
              <a:t>System  Approach:</a:t>
            </a:r>
            <a:endParaRPr lang="en-US" sz="3600" dirty="0"/>
          </a:p>
        </p:txBody>
      </p:sp>
      <p:sp>
        <p:nvSpPr>
          <p:cNvPr id="3" name="Content Placeholder 2"/>
          <p:cNvSpPr>
            <a:spLocks noGrp="1"/>
          </p:cNvSpPr>
          <p:nvPr>
            <p:ph idx="1"/>
          </p:nvPr>
        </p:nvSpPr>
        <p:spPr>
          <a:xfrm>
            <a:off x="317409" y="1715586"/>
            <a:ext cx="10515600" cy="4251960"/>
          </a:xfrm>
        </p:spPr>
        <p:txBody>
          <a:bodyPr vert="horz" lIns="91440" tIns="45720" rIns="91440" bIns="45720" rtlCol="0">
            <a:normAutofit/>
          </a:bodyPr>
          <a:lstStyle/>
          <a:p>
            <a:r>
              <a:rPr lang="en-IN" sz="2400" b="1" dirty="0"/>
              <a:t>System Requirements</a:t>
            </a:r>
            <a:endParaRPr lang="en-IN" sz="2400" dirty="0"/>
          </a:p>
          <a:p>
            <a:r>
              <a:rPr lang="en-IN" sz="2400" dirty="0"/>
              <a:t>Windows computer</a:t>
            </a:r>
          </a:p>
          <a:p>
            <a:r>
              <a:rPr lang="en-IN" sz="2400" dirty="0"/>
              <a:t>Power BI Desktop</a:t>
            </a:r>
          </a:p>
          <a:p>
            <a:r>
              <a:rPr lang="en-IN" sz="2400" dirty="0"/>
              <a:t>NDAP dataset</a:t>
            </a:r>
          </a:p>
          <a:p>
            <a:r>
              <a:rPr lang="en-IN" sz="2400" b="1" dirty="0"/>
              <a:t>Libraries / Tools Used</a:t>
            </a:r>
            <a:endParaRPr lang="en-IN" sz="2400" dirty="0"/>
          </a:p>
          <a:p>
            <a:r>
              <a:rPr lang="en-IN" sz="2400" dirty="0"/>
              <a:t>Power BI</a:t>
            </a:r>
          </a:p>
          <a:p>
            <a:r>
              <a:rPr lang="en-IN" sz="2400" dirty="0"/>
              <a:t>Power Query</a:t>
            </a:r>
          </a:p>
          <a:p>
            <a:r>
              <a:rPr lang="en-IN" sz="2400" dirty="0"/>
              <a:t>Data Visualization tools</a:t>
            </a:r>
          </a:p>
          <a:p>
            <a:r>
              <a:rPr lang="en-IN" sz="2400" b="1" dirty="0"/>
              <a:t>Microsoft Power BI Desktop</a:t>
            </a:r>
            <a:endParaRPr lang="en-IN" sz="2400" dirty="0"/>
          </a:p>
          <a:p>
            <a:pPr marL="0" indent="0">
              <a:spcBef>
                <a:spcPct val="20000"/>
              </a:spcBef>
              <a:spcAft>
                <a:spcPts val="600"/>
              </a:spcAft>
              <a:buNone/>
            </a:pPr>
            <a:endParaRPr lang="en-GB"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3600" b="1" cap="all" dirty="0">
                <a:latin typeface="Arial" panose="020B0604020202020204"/>
                <a:cs typeface="Arial" panose="020B0604020202020204"/>
              </a:rPr>
              <a:t>Algorithm &amp; Deployment</a:t>
            </a:r>
            <a:r>
              <a:rPr lang="en-US" sz="4000" b="1" cap="all" dirty="0">
                <a:latin typeface="Arial" panose="020B0604020202020204"/>
                <a:cs typeface="Arial" panose="020B0604020202020204"/>
              </a:rPr>
              <a:t>:</a:t>
            </a:r>
            <a:endParaRPr lang="en-US" sz="4000" dirty="0"/>
          </a:p>
        </p:txBody>
      </p:sp>
      <p:sp>
        <p:nvSpPr>
          <p:cNvPr id="3" name="Content Placeholder 2"/>
          <p:cNvSpPr>
            <a:spLocks noGrp="1"/>
          </p:cNvSpPr>
          <p:nvPr>
            <p:ph idx="1"/>
          </p:nvPr>
        </p:nvSpPr>
        <p:spPr>
          <a:xfrm>
            <a:off x="266700" y="1572196"/>
            <a:ext cx="10515600" cy="4251960"/>
          </a:xfrm>
        </p:spPr>
        <p:txBody>
          <a:bodyPr vert="horz" lIns="91440" tIns="45720" rIns="91440" bIns="45720" rtlCol="0">
            <a:normAutofit/>
          </a:bodyPr>
          <a:lstStyle/>
          <a:p>
            <a:r>
              <a:rPr lang="en-IN" sz="2400" b="1" dirty="0"/>
              <a:t>Data Processing Approach:</a:t>
            </a:r>
            <a:endParaRPr lang="en-IN" sz="2400" dirty="0"/>
          </a:p>
          <a:p>
            <a:r>
              <a:rPr lang="en-IN" sz="2400" dirty="0"/>
              <a:t>Data Collection from NDAP dataset</a:t>
            </a:r>
          </a:p>
          <a:p>
            <a:r>
              <a:rPr lang="en-IN" sz="2400" dirty="0"/>
              <a:t>Data Cleaning using Power Query</a:t>
            </a:r>
          </a:p>
          <a:p>
            <a:r>
              <a:rPr lang="en-IN" sz="2400" dirty="0"/>
              <a:t>Data Transformation for visualization</a:t>
            </a:r>
          </a:p>
          <a:p>
            <a:r>
              <a:rPr lang="en-IN" sz="2400" dirty="0"/>
              <a:t>Dashboard creation using Power BI</a:t>
            </a:r>
          </a:p>
          <a:p>
            <a:r>
              <a:rPr lang="en-IN" sz="2400" b="1" dirty="0"/>
              <a:t>Deployment:</a:t>
            </a:r>
            <a:endParaRPr lang="en-IN" sz="2400" dirty="0"/>
          </a:p>
          <a:p>
            <a:r>
              <a:rPr lang="en-IN" sz="2400" dirty="0"/>
              <a:t>Interactive Power BI dashboard</a:t>
            </a:r>
          </a:p>
          <a:p>
            <a:r>
              <a:rPr lang="en-IN" sz="2400" dirty="0"/>
              <a:t>Visual charts and filters for analysis</a:t>
            </a:r>
          </a:p>
          <a:p>
            <a:pPr marL="305435" indent="-305435">
              <a:spcBef>
                <a:spcPct val="20000"/>
              </a:spcBef>
              <a:spcAft>
                <a:spcPts val="600"/>
              </a:spcAft>
              <a:buFont typeface="Arial" panose="020B0604020202020204"/>
              <a:buChar char="•"/>
            </a:pPr>
            <a:endParaRPr lang="en-GB"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0532" y="766894"/>
            <a:ext cx="3333549" cy="817431"/>
          </a:xfrm>
        </p:spPr>
        <p:txBody>
          <a:bodyPr lIns="91440" tIns="45720" rIns="91440" bIns="45720" anchor="t">
            <a:normAutofit fontScale="90000"/>
          </a:bodyPr>
          <a:lstStyle/>
          <a:p>
            <a:r>
              <a:rPr lang="en-US" sz="3600" dirty="0">
                <a:latin typeface="Aptos" panose="020B0004020202020204" pitchFamily="34" charset="0"/>
              </a:rPr>
              <a:t>RESULT:</a:t>
            </a:r>
            <a:br>
              <a:rPr lang="en-US" sz="3600" dirty="0">
                <a:latin typeface="Aptos" panose="020B0004020202020204" pitchFamily="34" charset="0"/>
              </a:rPr>
            </a:br>
            <a:endParaRPr lang="en-US" sz="3600" dirty="0">
              <a:latin typeface="Aptos" panose="020B0004020202020204" pitchFamily="34" charset="0"/>
            </a:endParaRPr>
          </a:p>
        </p:txBody>
      </p:sp>
      <p:pic>
        <p:nvPicPr>
          <p:cNvPr id="5" name="Content Placeholder 4">
            <a:extLst>
              <a:ext uri="{FF2B5EF4-FFF2-40B4-BE49-F238E27FC236}">
                <a16:creationId xmlns:a16="http://schemas.microsoft.com/office/drawing/2014/main" id="{FD45E0EB-7AC6-F30F-D83C-149260AC64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2865" y="1584325"/>
            <a:ext cx="7506145" cy="4251325"/>
          </a:xfrm>
        </p:spPr>
      </p:pic>
      <p:sp>
        <p:nvSpPr>
          <p:cNvPr id="12" name="Rectangle 2">
            <a:extLst>
              <a:ext uri="{FF2B5EF4-FFF2-40B4-BE49-F238E27FC236}">
                <a16:creationId xmlns:a16="http://schemas.microsoft.com/office/drawing/2014/main" id="{F175CD7A-059B-1867-38E6-617276D53831}"/>
              </a:ext>
            </a:extLst>
          </p:cNvPr>
          <p:cNvSpPr>
            <a:spLocks noChangeArrowheads="1"/>
          </p:cNvSpPr>
          <p:nvPr/>
        </p:nvSpPr>
        <p:spPr bwMode="auto">
          <a:xfrm>
            <a:off x="0" y="-323165"/>
            <a:ext cx="395813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8"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3">
            <a:extLst>
              <a:ext uri="{FF2B5EF4-FFF2-40B4-BE49-F238E27FC236}">
                <a16:creationId xmlns:a16="http://schemas.microsoft.com/office/drawing/2014/main" id="{E00EFFDA-A554-3988-D901-750C385EE6CB}"/>
              </a:ext>
            </a:extLst>
          </p:cNvPr>
          <p:cNvSpPr>
            <a:spLocks noChangeArrowheads="1"/>
          </p:cNvSpPr>
          <p:nvPr/>
        </p:nvSpPr>
        <p:spPr bwMode="auto">
          <a:xfrm>
            <a:off x="110532" y="1248499"/>
            <a:ext cx="1149866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analyzes the </a:t>
            </a:r>
            <a:r>
              <a:rPr kumimoji="0" lang="en-US" altLang="en-US" sz="1800" b="1" i="0" u="none" strike="noStrike" cap="none" normalizeH="0" baseline="0" dirty="0">
                <a:ln>
                  <a:noFill/>
                </a:ln>
                <a:solidFill>
                  <a:schemeClr val="tx1"/>
                </a:solidFill>
                <a:effectLst/>
                <a:latin typeface="Arial" panose="020B0604020202020204" pitchFamily="34" charset="0"/>
              </a:rPr>
              <a:t>percentage of schools with integrated science laboratories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compares </a:t>
            </a:r>
            <a:r>
              <a:rPr kumimoji="0" lang="en-US" altLang="en-US" sz="1800" b="1" i="0" u="none" strike="noStrike" cap="none" normalizeH="0" baseline="0" dirty="0">
                <a:ln>
                  <a:noFill/>
                </a:ln>
                <a:solidFill>
                  <a:schemeClr val="tx1"/>
                </a:solidFill>
                <a:effectLst/>
                <a:latin typeface="Arial" panose="020B0604020202020204" pitchFamily="34" charset="0"/>
              </a:rPr>
              <a:t>subject availability such as Biology, Chemistry, and Physics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Filters allow users to explore the data </a:t>
            </a:r>
            <a:r>
              <a:rPr kumimoji="0" lang="en-US" altLang="en-US" sz="1800" b="1" i="0" u="none" strike="noStrike" cap="none" normalizeH="0" baseline="0" dirty="0">
                <a:ln>
                  <a:noFill/>
                </a:ln>
                <a:solidFill>
                  <a:schemeClr val="tx1"/>
                </a:solidFill>
                <a:effectLst/>
                <a:latin typeface="Arial" panose="020B0604020202020204" pitchFamily="34" charset="0"/>
              </a:rPr>
              <a:t>by state and financial year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dashboard shows the </a:t>
            </a:r>
            <a:r>
              <a:rPr kumimoji="0" lang="en-US" altLang="en-US" sz="1800" b="1" i="0" u="none" strike="noStrike" cap="none" normalizeH="0" baseline="0" dirty="0">
                <a:ln>
                  <a:noFill/>
                </a:ln>
                <a:solidFill>
                  <a:schemeClr val="tx1"/>
                </a:solidFill>
                <a:effectLst/>
                <a:latin typeface="Arial" panose="020B0604020202020204" pitchFamily="34" charset="0"/>
              </a:rPr>
              <a:t>distribution of secondary and higher secondary schools across Indian states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16" name="Picture 15">
            <a:extLst>
              <a:ext uri="{FF2B5EF4-FFF2-40B4-BE49-F238E27FC236}">
                <a16:creationId xmlns:a16="http://schemas.microsoft.com/office/drawing/2014/main" id="{1027F810-6773-93E5-D417-FD3C13D8CA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5082" y="2448828"/>
            <a:ext cx="7181709" cy="406757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1043686" cy="1584207"/>
          </a:xfrm>
        </p:spPr>
        <p:txBody>
          <a:bodyPr lIns="91440" tIns="45720" rIns="91440" bIns="45720" anchor="t">
            <a:normAutofit/>
          </a:bodyPr>
          <a:lstStyle/>
          <a:p>
            <a:r>
              <a:rPr lang="en-US" sz="3600" b="1" cap="all" dirty="0">
                <a:latin typeface="Arial" panose="020B0604020202020204"/>
                <a:cs typeface="Arial" panose="020B0604020202020204"/>
              </a:rPr>
              <a:t>Conclusion:</a:t>
            </a:r>
            <a:endParaRPr lang="en-US" sz="36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sz="2400" dirty="0"/>
              <a:t>The Education Analytics Dashboard successfully analyzes educational infrastructure and subject availability across Indian states. The interactive dashboard provides clear insights into school distribution, science laboratory facilities, and subject availability. These insights can assist policymakers and educational planners in making informed decisions to improve the education system.</a:t>
            </a:r>
          </a:p>
          <a:p>
            <a:pPr marL="0" indent="0">
              <a:buNone/>
            </a:pP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3600" b="1" cap="all" dirty="0">
                <a:latin typeface="Aptos" panose="020B0004020202020204" pitchFamily="34" charset="0"/>
                <a:cs typeface="Arial" panose="020B0604020202020204"/>
              </a:rPr>
              <a:t>Future scope</a:t>
            </a:r>
            <a:r>
              <a:rPr lang="en-US" sz="3600" b="1" cap="all" dirty="0">
                <a:latin typeface="Arial" panose="020B0604020202020204"/>
                <a:cs typeface="Arial" panose="020B0604020202020204"/>
              </a:rPr>
              <a:t>:</a:t>
            </a:r>
            <a:endParaRPr lang="en-US" sz="3600" dirty="0"/>
          </a:p>
        </p:txBody>
      </p:sp>
      <p:sp>
        <p:nvSpPr>
          <p:cNvPr id="8" name="Rectangle 4">
            <a:extLst>
              <a:ext uri="{FF2B5EF4-FFF2-40B4-BE49-F238E27FC236}">
                <a16:creationId xmlns:a16="http://schemas.microsoft.com/office/drawing/2014/main" id="{821D9E1E-BE8E-6B7E-E002-AB66BFD2F233}"/>
              </a:ext>
            </a:extLst>
          </p:cNvPr>
          <p:cNvSpPr>
            <a:spLocks noGrp="1" noChangeArrowheads="1"/>
          </p:cNvSpPr>
          <p:nvPr>
            <p:ph idx="1"/>
          </p:nvPr>
        </p:nvSpPr>
        <p:spPr bwMode="auto">
          <a:xfrm>
            <a:off x="80963" y="1425327"/>
            <a:ext cx="557625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ptos" panose="020B0004020202020204" pitchFamily="34" charset="0"/>
              </a:rPr>
              <a:t>Integration with real-time education  datasets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ptos" panose="020B0004020202020204" pitchFamily="34" charset="0"/>
              </a:rPr>
              <a:t>District-level education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ptos" panose="020B0004020202020204" pitchFamily="34" charset="0"/>
              </a:rPr>
              <a:t>Predictive analytics using machine learning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ptos" panose="020B0004020202020204" pitchFamily="34" charset="0"/>
              </a:rPr>
              <a:t>Expansion to other education indicators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3600" b="1" cap="all" dirty="0">
                <a:latin typeface="Aptos" panose="020B0004020202020204" pitchFamily="34" charset="0"/>
                <a:cs typeface="Arial" panose="020B0604020202020204"/>
              </a:rPr>
              <a:t>References:</a:t>
            </a:r>
            <a:endParaRPr lang="en-US" sz="3600" dirty="0">
              <a:latin typeface="Aptos" panose="020B0004020202020204" pitchFamily="34" charset="0"/>
            </a:endParaRPr>
          </a:p>
        </p:txBody>
      </p:sp>
      <p:sp>
        <p:nvSpPr>
          <p:cNvPr id="3" name="Content Placeholder 2"/>
          <p:cNvSpPr>
            <a:spLocks noGrp="1"/>
          </p:cNvSpPr>
          <p:nvPr>
            <p:ph idx="1"/>
          </p:nvPr>
        </p:nvSpPr>
        <p:spPr>
          <a:xfrm>
            <a:off x="257908" y="2673914"/>
            <a:ext cx="9720965" cy="3029740"/>
          </a:xfrm>
        </p:spPr>
        <p:txBody>
          <a:bodyPr vert="horz" lIns="91440" tIns="45720" rIns="91440" bIns="45720" rtlCol="0" anchor="t">
            <a:normAutofit/>
          </a:bodyPr>
          <a:lstStyle/>
          <a:p>
            <a:pPr marL="0" indent="0">
              <a:buNone/>
            </a:pPr>
            <a:endParaRPr lang="en-IN" sz="2200" dirty="0">
              <a:latin typeface="Franklin Gothic Book" panose="020B0503020102020204"/>
            </a:endParaRPr>
          </a:p>
          <a:p>
            <a:pPr marL="0" indent="0">
              <a:buNone/>
            </a:pPr>
            <a:r>
              <a:rPr lang="en-IN" sz="2200" dirty="0">
                <a:latin typeface="Franklin Gothic Book" panose="020B0503020102020204"/>
              </a:rPr>
              <a:t>GitHub Link:</a:t>
            </a:r>
            <a:r>
              <a:rPr lang="en-IN" sz="2200" dirty="0">
                <a:solidFill>
                  <a:srgbClr val="0070C0"/>
                </a:solidFill>
                <a:latin typeface="Franklin Gothic Book" panose="020B0503020102020204"/>
              </a:rPr>
              <a:t> </a:t>
            </a:r>
            <a:r>
              <a:rPr lang="en-IN" sz="2200" u="sng" dirty="0">
                <a:solidFill>
                  <a:srgbClr val="0070C0"/>
                </a:solidFill>
                <a:latin typeface="Franklin Gothic Book" panose="020B0503020102020204"/>
              </a:rPr>
              <a:t>Link</a:t>
            </a:r>
          </a:p>
          <a:p>
            <a:pPr marL="0" indent="0">
              <a:buNone/>
            </a:pP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sp>
        <p:nvSpPr>
          <p:cNvPr id="4" name="Rectangle 1">
            <a:extLst>
              <a:ext uri="{FF2B5EF4-FFF2-40B4-BE49-F238E27FC236}">
                <a16:creationId xmlns:a16="http://schemas.microsoft.com/office/drawing/2014/main" id="{38E63738-1BD1-A6FD-2DF5-3B6236ED05DF}"/>
              </a:ext>
            </a:extLst>
          </p:cNvPr>
          <p:cNvSpPr>
            <a:spLocks noChangeArrowheads="1"/>
          </p:cNvSpPr>
          <p:nvPr/>
        </p:nvSpPr>
        <p:spPr bwMode="auto">
          <a:xfrm>
            <a:off x="257908" y="1348351"/>
            <a:ext cx="583809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ptos" panose="020B0004020202020204" pitchFamily="34" charset="0"/>
              </a:rPr>
              <a:t>Power BI Documentation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ptos" panose="020B0004020202020204" pitchFamily="34" charset="0"/>
              </a:rPr>
              <a:t>Government Education Data Sources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ptos" panose="020B0004020202020204" pitchFamily="34" charset="0"/>
              </a:rPr>
              <a:t>NDAP (National Data and Analytics Platform)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TotalTime>
  <Words>413</Words>
  <Application>Microsoft Office PowerPoint</Application>
  <PresentationFormat>Widescreen</PresentationFormat>
  <Paragraphs>65</Paragraphs>
  <Slides>11</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 </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Nivedita .</cp:lastModifiedBy>
  <cp:revision>102</cp:revision>
  <dcterms:created xsi:type="dcterms:W3CDTF">2024-05-21T11:55:00Z</dcterms:created>
  <dcterms:modified xsi:type="dcterms:W3CDTF">2026-03-12T08:57:43Z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